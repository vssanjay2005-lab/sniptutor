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C4959F-B92A-4C13-9986-5A6401238002}" v="659" dt="2026-07-19T12:24:22.0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65163"/>
            <a:ext cx="9144000" cy="3294743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400" dirty="0" err="1">
                <a:latin typeface="Arial"/>
                <a:ea typeface="+mj-lt"/>
                <a:cs typeface="Arial"/>
              </a:rPr>
              <a:t>SnipTutor</a:t>
            </a:r>
            <a:r>
              <a:rPr lang="en-US" sz="4400" dirty="0">
                <a:latin typeface="Arial"/>
                <a:ea typeface="+mj-lt"/>
                <a:cs typeface="Arial"/>
              </a:rPr>
              <a:t>: A Unified Screen-Capturing Multimodal AI Environment Supporting On-Demand Task Automation and Academic Doubt Resolution</a:t>
            </a:r>
            <a:endParaRPr lang="en-US" sz="4400">
              <a:latin typeface="Arial"/>
              <a:cs typeface="Arial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35372" y="4153581"/>
            <a:ext cx="9144000" cy="165576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dirty="0"/>
              <a:t>  </a:t>
            </a:r>
            <a:r>
              <a:rPr lang="en-US" dirty="0">
                <a:latin typeface="Calibri"/>
                <a:ea typeface="Calibri"/>
                <a:cs typeface="Calibri"/>
              </a:rPr>
              <a:t>         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6AED0E-195C-86D3-80BF-F2BA7E16123F}"/>
              </a:ext>
            </a:extLst>
          </p:cNvPr>
          <p:cNvSpPr txBox="1"/>
          <p:nvPr/>
        </p:nvSpPr>
        <p:spPr>
          <a:xfrm>
            <a:off x="283936" y="4386943"/>
            <a:ext cx="603885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Calibri"/>
                <a:ea typeface="Calibri"/>
                <a:cs typeface="Calibri"/>
              </a:rPr>
              <a:t>Guide Name: Dr. </a:t>
            </a:r>
            <a:r>
              <a:rPr lang="en-US" sz="2400">
                <a:latin typeface="Calibri"/>
                <a:ea typeface="Calibri"/>
                <a:cs typeface="Calibri"/>
              </a:rPr>
              <a:t>G. Visalaxi</a:t>
            </a:r>
          </a:p>
          <a:p>
            <a:r>
              <a:rPr lang="en-US" sz="2400">
                <a:latin typeface="Calibri"/>
                <a:ea typeface="Calibri"/>
                <a:cs typeface="Calibri"/>
              </a:rPr>
              <a:t>Department: CSE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r>
              <a:rPr lang="en-US" sz="2400">
                <a:latin typeface="Calibri"/>
                <a:ea typeface="Calibri"/>
                <a:cs typeface="Calibri"/>
              </a:rPr>
              <a:t>Academic year: 2026-2027</a:t>
            </a:r>
            <a:endParaRPr lang="en-US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6BB72F-FF36-3C94-D7F0-410A7D05E22A}"/>
              </a:ext>
            </a:extLst>
          </p:cNvPr>
          <p:cNvSpPr txBox="1"/>
          <p:nvPr/>
        </p:nvSpPr>
        <p:spPr>
          <a:xfrm>
            <a:off x="272300" y="4185794"/>
            <a:ext cx="4815114" cy="16658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E55E4E-1103-7A01-210E-3BF328253256}"/>
              </a:ext>
            </a:extLst>
          </p:cNvPr>
          <p:cNvSpPr txBox="1"/>
          <p:nvPr/>
        </p:nvSpPr>
        <p:spPr>
          <a:xfrm>
            <a:off x="6575878" y="4379685"/>
            <a:ext cx="603885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Calibri"/>
                <a:ea typeface="Calibri"/>
                <a:cs typeface="Calibri"/>
              </a:rPr>
              <a:t>MuraliKrishna S (111923CS01098)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r>
              <a:rPr lang="en-US" sz="2400">
                <a:latin typeface="Calibri"/>
                <a:ea typeface="Calibri"/>
                <a:cs typeface="Calibri"/>
              </a:rPr>
              <a:t>Sanjay VS             (111923CS01139)</a:t>
            </a:r>
          </a:p>
          <a:p>
            <a:r>
              <a:rPr lang="en-US" sz="2400">
                <a:latin typeface="Calibri"/>
                <a:ea typeface="Calibri"/>
                <a:cs typeface="Calibri"/>
              </a:rPr>
              <a:t>Sreerag KK           (111923CS01160)</a:t>
            </a:r>
            <a:endParaRPr lang="en-US" sz="24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2A090-1414-7CFE-8398-4F3C8241E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E34B6-98E3-CC6B-468E-D3CC09F5A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algn="just"/>
            <a:r>
              <a:rPr lang="en-US" dirty="0" err="1">
                <a:ea typeface="+mn-lt"/>
                <a:cs typeface="+mn-lt"/>
              </a:rPr>
              <a:t>SnipTutor</a:t>
            </a:r>
            <a:r>
              <a:rPr lang="en-US" dirty="0">
                <a:ea typeface="+mn-lt"/>
                <a:cs typeface="+mn-lt"/>
              </a:rPr>
              <a:t> is a desktop app combining a snipping tool interface with Gemini AI.</a:t>
            </a:r>
            <a:endParaRPr lang="en-US" dirty="0"/>
          </a:p>
          <a:p>
            <a:pPr algn="just"/>
            <a:r>
              <a:rPr lang="en-US">
                <a:ea typeface="+mn-lt"/>
                <a:cs typeface="+mn-lt"/>
              </a:rPr>
              <a:t>Helps students and developers resolve doubts instantly through screen snip via hotkey .</a:t>
            </a:r>
            <a:endParaRPr lang="en-US"/>
          </a:p>
          <a:p>
            <a:pPr algn="just"/>
            <a:r>
              <a:rPr lang="en-US">
                <a:ea typeface="+mn-lt"/>
                <a:cs typeface="+mn-lt"/>
              </a:rPr>
              <a:t>Supports multimodal inputs: screenshots, images, PDFs, documents, and URLs.</a:t>
            </a:r>
            <a:endParaRPr lang="en-US"/>
          </a:p>
          <a:p>
            <a:pPr algn="just"/>
            <a:r>
              <a:rPr lang="en-US">
                <a:ea typeface="+mn-lt"/>
                <a:cs typeface="+mn-lt"/>
              </a:rPr>
              <a:t>Two modes: </a:t>
            </a:r>
            <a:r>
              <a:rPr lang="en-US" b="1">
                <a:ea typeface="+mn-lt"/>
                <a:cs typeface="+mn-lt"/>
              </a:rPr>
              <a:t>Student Mode</a:t>
            </a:r>
            <a:r>
              <a:rPr lang="en-US">
                <a:ea typeface="+mn-lt"/>
                <a:cs typeface="+mn-lt"/>
              </a:rPr>
              <a:t> (academic help) and </a:t>
            </a:r>
            <a:r>
              <a:rPr lang="en-US" b="1">
                <a:ea typeface="+mn-lt"/>
                <a:cs typeface="+mn-lt"/>
              </a:rPr>
              <a:t>Developer Mode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(debugging).</a:t>
            </a:r>
            <a:endParaRPr lang="en-US"/>
          </a:p>
          <a:p>
            <a:pPr algn="just"/>
            <a:r>
              <a:rPr lang="en-US">
                <a:ea typeface="+mn-lt"/>
                <a:cs typeface="+mn-lt"/>
              </a:rPr>
              <a:t>Offers </a:t>
            </a:r>
            <a:r>
              <a:rPr lang="en-US" b="1">
                <a:ea typeface="+mn-lt"/>
                <a:cs typeface="+mn-lt"/>
              </a:rPr>
              <a:t>manual or automated fixes</a:t>
            </a:r>
            <a:r>
              <a:rPr lang="en-US">
                <a:ea typeface="+mn-lt"/>
                <a:cs typeface="+mn-lt"/>
              </a:rPr>
              <a:t> for flexibility.</a:t>
            </a:r>
            <a:endParaRPr lang="en-US"/>
          </a:p>
          <a:p>
            <a:pPr algn="just"/>
            <a:r>
              <a:rPr lang="en-US">
                <a:ea typeface="+mn-lt"/>
                <a:cs typeface="+mn-lt"/>
              </a:rPr>
              <a:t>Floating split-screen for side-by-side work.</a:t>
            </a:r>
            <a:endParaRPr lang="en-US"/>
          </a:p>
          <a:p>
            <a:pPr algn="just"/>
            <a:r>
              <a:rPr lang="en-US">
                <a:ea typeface="+mn-lt"/>
                <a:cs typeface="+mn-lt"/>
              </a:rPr>
              <a:t>Unified, user-friendly environment that saves time and boosts productivity.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34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AA565-5D29-D105-EC05-72E95447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ED487-A588-2549-A523-43822DD12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797"/>
            <a:ext cx="10515600" cy="5331051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>
                <a:ea typeface="+mn-lt"/>
                <a:cs typeface="+mn-lt"/>
              </a:rPr>
              <a:t>Background of the Problem</a:t>
            </a:r>
            <a:endParaRPr lang="en-US"/>
          </a:p>
          <a:p>
            <a:pPr algn="just"/>
            <a:r>
              <a:rPr lang="en-US">
                <a:ea typeface="+mn-lt"/>
                <a:cs typeface="+mn-lt"/>
              </a:rPr>
              <a:t>Developers waste time switching between tools to fix coding errors.</a:t>
            </a:r>
            <a:endParaRPr lang="en-US"/>
          </a:p>
          <a:p>
            <a:pPr algn="just"/>
            <a:r>
              <a:rPr lang="en-US">
                <a:ea typeface="+mn-lt"/>
                <a:cs typeface="+mn-lt"/>
              </a:rPr>
              <a:t>Students struggle to understand concepts from PDFs or websites and must copy‑paste text into AI platforms.</a:t>
            </a:r>
            <a:endParaRPr lang="en-US"/>
          </a:p>
          <a:p>
            <a:pPr algn="just"/>
            <a:r>
              <a:rPr lang="en-US">
                <a:ea typeface="+mn-lt"/>
                <a:cs typeface="+mn-lt"/>
              </a:rPr>
              <a:t>Existing AI assistants are web‑based and not integrated with desktop workflows.</a:t>
            </a:r>
            <a:endParaRPr lang="en-US"/>
          </a:p>
          <a:p>
            <a:pPr algn="just"/>
            <a:r>
              <a:rPr lang="en-US">
                <a:ea typeface="+mn-lt"/>
                <a:cs typeface="+mn-lt"/>
              </a:rPr>
              <a:t>This breaks focus and reduces productivity.</a:t>
            </a:r>
            <a:endParaRPr lang="en-US"/>
          </a:p>
          <a:p>
            <a:pPr marL="0" indent="0" algn="just">
              <a:buNone/>
            </a:pPr>
            <a:r>
              <a:rPr lang="en-US" b="1">
                <a:ea typeface="+mn-lt"/>
                <a:cs typeface="+mn-lt"/>
              </a:rPr>
              <a:t>Need for the Project</a:t>
            </a:r>
            <a:endParaRPr lang="en-US"/>
          </a:p>
          <a:p>
            <a:pPr algn="just"/>
            <a:r>
              <a:rPr lang="en-US">
                <a:ea typeface="+mn-lt"/>
                <a:cs typeface="+mn-lt"/>
              </a:rPr>
              <a:t>A unified desktop tool that combines screen‑capturing and AI assistance.</a:t>
            </a:r>
            <a:endParaRPr lang="en-US"/>
          </a:p>
          <a:p>
            <a:pPr algn="just"/>
            <a:r>
              <a:rPr lang="en-US">
                <a:ea typeface="+mn-lt"/>
                <a:cs typeface="+mn-lt"/>
              </a:rPr>
              <a:t>Instant doubt resolution without saving or uploading files manually.</a:t>
            </a:r>
            <a:endParaRPr lang="en-US"/>
          </a:p>
          <a:p>
            <a:pPr algn="just"/>
            <a:r>
              <a:rPr lang="en-US">
                <a:ea typeface="+mn-lt"/>
                <a:cs typeface="+mn-lt"/>
              </a:rPr>
              <a:t>Support for multimodal inputs – images, PDFs, documents, and URLs.</a:t>
            </a:r>
            <a:endParaRPr lang="en-US"/>
          </a:p>
          <a:p>
            <a:pPr algn="just"/>
            <a:r>
              <a:rPr lang="en-US">
                <a:ea typeface="+mn-lt"/>
                <a:cs typeface="+mn-lt"/>
              </a:rPr>
              <a:t>Helps both learners and developers work efficiently in one environment.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217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ECBB7-74D8-F816-D776-D1BB927FA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Problem Statement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7FD33-BF21-4AD0-E70D-FB15733D6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Problem to be Solved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Developers spend too much time capturing, saving, and uploading screenshots to AI tools for debugging.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Students struggle to copy text from PDFs or websites and upload it separately to get explanations.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Current AI assistants are not integrated with desktop workflows.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Lack of a unified tool that supports multimodal inputs (images, PDFs, documents, URLs) directly.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Existing solutions focus only on either coding or learning, not both.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574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8A24E-3304-16E1-ED17-D39C05B38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Existing System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5F347-861D-3A43-6683-89E302624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Current Methods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Developers: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Use separate snipping tools to capture errors.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Save screenshots manually.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Upload them into AI assistants (Copilot, Gemini, ChatGPT).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Get responses only after multiple steps.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Students: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Copy text from PDFs or websites.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Save or paste into AI platforms.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Wait for explanations.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112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620AD-1D3E-5FB0-FF1E-575C294C0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 of 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5BAC5-E545-B14D-FD99-297B8AEC2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9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Time‑consuming and repetitive.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Breaks workflow and focus.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Tools are specialized (coding only or learning only).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No unified multimodal desktop solution.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570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6B701-54C4-5B99-C62F-753742543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-229961"/>
            <a:ext cx="10515600" cy="1325563"/>
          </a:xfrm>
        </p:spPr>
        <p:txBody>
          <a:bodyPr/>
          <a:lstStyle/>
          <a:p>
            <a:r>
              <a:rPr lang="en-US"/>
              <a:t>Literature Review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D5F9251-671C-A4B1-D930-0EB3D8AC6B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8510926"/>
              </p:ext>
            </p:extLst>
          </p:nvPr>
        </p:nvGraphicFramePr>
        <p:xfrm>
          <a:off x="21771" y="928914"/>
          <a:ext cx="12122548" cy="593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0637">
                  <a:extLst>
                    <a:ext uri="{9D8B030D-6E8A-4147-A177-3AD203B41FA5}">
                      <a16:colId xmlns:a16="http://schemas.microsoft.com/office/drawing/2014/main" val="285148669"/>
                    </a:ext>
                  </a:extLst>
                </a:gridCol>
                <a:gridCol w="3030637">
                  <a:extLst>
                    <a:ext uri="{9D8B030D-6E8A-4147-A177-3AD203B41FA5}">
                      <a16:colId xmlns:a16="http://schemas.microsoft.com/office/drawing/2014/main" val="2451015971"/>
                    </a:ext>
                  </a:extLst>
                </a:gridCol>
                <a:gridCol w="3030637">
                  <a:extLst>
                    <a:ext uri="{9D8B030D-6E8A-4147-A177-3AD203B41FA5}">
                      <a16:colId xmlns:a16="http://schemas.microsoft.com/office/drawing/2014/main" val="2340481809"/>
                    </a:ext>
                  </a:extLst>
                </a:gridCol>
                <a:gridCol w="3030637">
                  <a:extLst>
                    <a:ext uri="{9D8B030D-6E8A-4147-A177-3AD203B41FA5}">
                      <a16:colId xmlns:a16="http://schemas.microsoft.com/office/drawing/2014/main" val="2248365677"/>
                    </a:ext>
                  </a:extLst>
                </a:gridCol>
              </a:tblGrid>
              <a:tr h="148252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1" i="0" u="none" strike="noStrike" noProof="0">
                          <a:latin typeface="Aptos"/>
                        </a:rPr>
                        <a:t>Paper</a:t>
                      </a:r>
                      <a:endParaRPr lang="en-US" sz="3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1" i="0" u="none" strike="noStrike" noProof="0">
                          <a:latin typeface="Aptos"/>
                        </a:rPr>
                        <a:t>Focus</a:t>
                      </a:r>
                      <a:endParaRPr lang="en-US" sz="3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1" i="0" u="none" strike="noStrike" noProof="0">
                          <a:latin typeface="Aptos"/>
                        </a:rPr>
                        <a:t>Limitations</a:t>
                      </a:r>
                      <a:endParaRPr lang="en-US" sz="3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1" i="0" u="none" strike="noStrike" noProof="0" dirty="0" err="1">
                          <a:latin typeface="Aptos"/>
                        </a:rPr>
                        <a:t>SnipTutor</a:t>
                      </a:r>
                      <a:r>
                        <a:rPr lang="en-US" sz="3200" b="1" i="0" u="none" strike="noStrike" noProof="0" dirty="0">
                          <a:latin typeface="Aptos"/>
                        </a:rPr>
                        <a:t> Difference</a:t>
                      </a:r>
                      <a:endParaRPr lang="en-US" sz="3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372258"/>
                  </a:ext>
                </a:extLst>
              </a:tr>
              <a:tr h="148252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Generalist multimodal AI: A review of architectures, challenges and opportunities (2026)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Reviews multimodal AI architectures (vision + language).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Focuses on theory; lacks workflow integration.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 err="1">
                          <a:latin typeface="Aptos"/>
                        </a:rPr>
                        <a:t>SnipTutor</a:t>
                      </a:r>
                      <a:r>
                        <a:rPr lang="en-US" sz="1800" b="0" i="0" u="none" strike="noStrike" noProof="0" dirty="0">
                          <a:latin typeface="Aptos"/>
                        </a:rPr>
                        <a:t> applies multimodal AI practically in a desktop app with screenshots, PDFs, URLs.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952466"/>
                  </a:ext>
                </a:extLst>
              </a:tr>
              <a:tr h="148252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Systematic review of vision language models (2026)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Analyzes VLM architectures, datasets, applications.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Limited to vision-language; no student/developer workflow.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 err="1">
                          <a:latin typeface="Aptos"/>
                        </a:rPr>
                        <a:t>SnipTutor</a:t>
                      </a:r>
                      <a:r>
                        <a:rPr lang="en-US" sz="1800" b="0" i="0" u="none" strike="noStrike" noProof="0" dirty="0">
                          <a:latin typeface="Aptos"/>
                        </a:rPr>
                        <a:t> extends VLM use to real tasks: debugging + academic doubt resolution.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342527"/>
                  </a:ext>
                </a:extLst>
              </a:tr>
              <a:tr h="148252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Systematic review of vision language models (2026)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Surveys generative AI for motion and multimodal tasks.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Domain-specific (motion); not general productivity.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 err="1">
                          <a:latin typeface="Aptos"/>
                        </a:rPr>
                        <a:t>SnipTutor</a:t>
                      </a:r>
                      <a:r>
                        <a:rPr lang="en-US" sz="1800" b="0" i="0" u="none" strike="noStrike" noProof="0" dirty="0">
                          <a:latin typeface="Aptos"/>
                        </a:rPr>
                        <a:t> generalizes multimodal AI for education and coding productivity.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10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7147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6F37B-A28F-2013-FBA0-8F0701B9E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279AA-7B4A-536E-0ECE-4075BBD3E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-229961"/>
            <a:ext cx="10515600" cy="1325563"/>
          </a:xfrm>
        </p:spPr>
        <p:txBody>
          <a:bodyPr/>
          <a:lstStyle/>
          <a:p>
            <a:r>
              <a:rPr lang="en-US"/>
              <a:t>Literature Review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668D87-54FA-074F-2A94-81D33F3EF0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3869111"/>
              </p:ext>
            </p:extLst>
          </p:nvPr>
        </p:nvGraphicFramePr>
        <p:xfrm>
          <a:off x="21771" y="928914"/>
          <a:ext cx="12122548" cy="4447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0637">
                  <a:extLst>
                    <a:ext uri="{9D8B030D-6E8A-4147-A177-3AD203B41FA5}">
                      <a16:colId xmlns:a16="http://schemas.microsoft.com/office/drawing/2014/main" val="285148669"/>
                    </a:ext>
                  </a:extLst>
                </a:gridCol>
                <a:gridCol w="3030637">
                  <a:extLst>
                    <a:ext uri="{9D8B030D-6E8A-4147-A177-3AD203B41FA5}">
                      <a16:colId xmlns:a16="http://schemas.microsoft.com/office/drawing/2014/main" val="2451015971"/>
                    </a:ext>
                  </a:extLst>
                </a:gridCol>
                <a:gridCol w="3030637">
                  <a:extLst>
                    <a:ext uri="{9D8B030D-6E8A-4147-A177-3AD203B41FA5}">
                      <a16:colId xmlns:a16="http://schemas.microsoft.com/office/drawing/2014/main" val="2340481809"/>
                    </a:ext>
                  </a:extLst>
                </a:gridCol>
                <a:gridCol w="3030637">
                  <a:extLst>
                    <a:ext uri="{9D8B030D-6E8A-4147-A177-3AD203B41FA5}">
                      <a16:colId xmlns:a16="http://schemas.microsoft.com/office/drawing/2014/main" val="2248365677"/>
                    </a:ext>
                  </a:extLst>
                </a:gridCol>
              </a:tblGrid>
              <a:tr h="148252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1" i="0" u="none" strike="noStrike" noProof="0">
                          <a:latin typeface="Aptos"/>
                        </a:rPr>
                        <a:t>Paper</a:t>
                      </a:r>
                      <a:endParaRPr lang="en-US" sz="3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1" i="0" u="none" strike="noStrike" noProof="0">
                          <a:latin typeface="Aptos"/>
                        </a:rPr>
                        <a:t>Focus</a:t>
                      </a:r>
                      <a:endParaRPr lang="en-US" sz="3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1" i="0" u="none" strike="noStrike" noProof="0">
                          <a:latin typeface="Aptos"/>
                        </a:rPr>
                        <a:t>Limitations</a:t>
                      </a:r>
                      <a:endParaRPr lang="en-US" sz="3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1" i="0" u="none" strike="noStrike" noProof="0" dirty="0" err="1">
                          <a:latin typeface="Aptos"/>
                        </a:rPr>
                        <a:t>SnipTutor</a:t>
                      </a:r>
                      <a:r>
                        <a:rPr lang="en-US" sz="3200" b="1" i="0" u="none" strike="noStrike" noProof="0" dirty="0">
                          <a:latin typeface="Aptos"/>
                        </a:rPr>
                        <a:t> Difference</a:t>
                      </a:r>
                      <a:endParaRPr lang="en-US" sz="3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372258"/>
                  </a:ext>
                </a:extLst>
              </a:tr>
              <a:tr h="148252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Artificial Intelligence in Education in the New Era: Opportunity or Challenge (2026)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Reviews AI tutoring and adaptive learning.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Mostly text-based; lacks multimodal support.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 err="1">
                          <a:latin typeface="Aptos"/>
                        </a:rPr>
                        <a:t>SnipTutor</a:t>
                      </a:r>
                      <a:r>
                        <a:rPr lang="en-US" sz="1800" b="0" i="0" u="none" strike="noStrike" noProof="0" dirty="0">
                          <a:latin typeface="Aptos"/>
                        </a:rPr>
                        <a:t> supports multimodal doubt resolution (images, PDFs, websites).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952466"/>
                  </a:ext>
                </a:extLst>
              </a:tr>
              <a:tr h="148252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AI and the Future of Educational Technology: Pedagogical Innovations and Challenges (2026)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Systematic review of AI in education.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Notes ethical issues; limited multimodal integration.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 err="1">
                          <a:latin typeface="Aptos"/>
                        </a:rPr>
                        <a:t>SnipTutor</a:t>
                      </a:r>
                      <a:r>
                        <a:rPr lang="en-US" sz="1800" b="0" i="0" u="none" strike="noStrike" noProof="0" dirty="0">
                          <a:latin typeface="Aptos"/>
                        </a:rPr>
                        <a:t> integrates multimodal AI with workflow tools, balancing automation and manual learning.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342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9604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SnipTutor: A Unified Screen-Capturing Multimodal AI Environment Supporting On-Demand Task Automation and Academic Doubt Resolution</vt:lpstr>
      <vt:lpstr>Abstract</vt:lpstr>
      <vt:lpstr>Introduction</vt:lpstr>
      <vt:lpstr>Problem Statement</vt:lpstr>
      <vt:lpstr>Existing System</vt:lpstr>
      <vt:lpstr>Limitations of Existing System</vt:lpstr>
      <vt:lpstr>Literature Review</vt:lpstr>
      <vt:lpstr>Literature Review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201</cp:revision>
  <dcterms:created xsi:type="dcterms:W3CDTF">2026-07-19T10:57:58Z</dcterms:created>
  <dcterms:modified xsi:type="dcterms:W3CDTF">2026-07-19T12:26:48Z</dcterms:modified>
</cp:coreProperties>
</file>